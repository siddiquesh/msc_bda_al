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 (%)</c:v>
                </c:pt>
              </c:strCache>
            </c:strRef>
          </c:tx>
          <c:spPr>
            <a:solidFill>
              <a:srgbClr val="1F7D6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Always</c:v>
                </c:pt>
                <c:pt idx="1">
                  <c:v>Sometimes</c:v>
                </c:pt>
                <c:pt idx="2">
                  <c:v>Never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36.3</c:v>
                </c:pt>
                <c:pt idx="1">
                  <c:v>49.6</c:v>
                </c:pt>
                <c:pt idx="2">
                  <c:v>14.2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F27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 (%)</c:v>
                </c:pt>
              </c:strCache>
            </c:strRef>
          </c:tx>
          <c:spPr>
            <a:solidFill>
              <a:srgbClr val="1F7D6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One dustbin</c:v>
                </c:pt>
                <c:pt idx="1">
                  <c:v>Two dustbins</c:v>
                </c:pt>
                <c:pt idx="2">
                  <c:v>Three</c:v>
                </c:pt>
                <c:pt idx="3">
                  <c:v>More than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38.9</c:v>
                </c:pt>
                <c:pt idx="1">
                  <c:v>38.9</c:v>
                </c:pt>
                <c:pt idx="2">
                  <c:v>12.4</c:v>
                </c:pt>
                <c:pt idx="3">
                  <c:v>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F27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 (%)</c:v>
                </c:pt>
              </c:strCache>
            </c:strRef>
          </c:tx>
          <c:spPr>
            <a:solidFill>
              <a:srgbClr val="1F7D6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Daily</c:v>
                </c:pt>
                <c:pt idx="1">
                  <c:v>Twice a week</c:v>
                </c:pt>
                <c:pt idx="2">
                  <c:v>Once a week</c:v>
                </c:pt>
                <c:pt idx="3">
                  <c:v>Rarely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44.6</c:v>
                </c:pt>
                <c:pt idx="1">
                  <c:v>34.8</c:v>
                </c:pt>
                <c:pt idx="2">
                  <c:v>13.4</c:v>
                </c:pt>
                <c:pt idx="3">
                  <c:v>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F27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005840"/>
            <a:ext cx="4754880" cy="4754880"/>
          </a:xfrm>
          <a:prstGeom prst="ellipse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91440"/>
            <a:ext cx="3017520" cy="3017520"/>
          </a:xfrm>
          <a:prstGeom prst="ellipse">
            <a:avLst/>
          </a:prstGeom>
          <a:solidFill>
            <a:srgbClr val="0F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206240"/>
            <a:ext cx="2103120" cy="2103120"/>
          </a:xfrm>
          <a:prstGeom prst="ellipse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0" y="4709160"/>
            <a:ext cx="1143000" cy="1143000"/>
          </a:xfrm>
          <a:prstGeom prst="ellipse">
            <a:avLst/>
          </a:prstGeom>
          <a:solidFill>
            <a:srgbClr val="0F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DABA"/>
                </a:solidFill>
                <a:latin typeface="Aptos"/>
              </a:rPr>
              <a:t>FIELD PROJECT  |  VIVA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ptos"/>
              </a:rPr>
              <a:t>ECO
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67665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DCF2E8"/>
                </a:solidFill>
                <a:latin typeface="Aptos"/>
              </a:rPr>
              <a:t>Smart Waste Collection &amp;
Recycling Management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343400"/>
            <a:ext cx="822960" cy="64008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6858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Balaji Easwara Raj  •  Roll No. 202503011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6858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DDCDF"/>
                </a:solidFill>
                <a:latin typeface="Aptos"/>
              </a:rPr>
              <a:t>S.Y. B.Sc. Computer Science  |  Academic Year 2026–27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6858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DDCDF"/>
                </a:solidFill>
                <a:latin typeface="Aptos"/>
              </a:rPr>
              <a:t>ZSCT’s Thakur Shyamnarayan Degree College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25312"/>
            <a:ext cx="6858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DABA"/>
                </a:solidFill>
                <a:latin typeface="Aptos"/>
              </a:rPr>
              <a:t>Project Guide: Mr. Nishant Anil Gole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01  / 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Why this project?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55C4C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4892040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F2737"/>
                </a:solidFill>
                <a:latin typeface="Aptos"/>
              </a:rPr>
              <a:t>Waste collection can be difficult to coordinate when requests, collection status and recyclable materials are not tracked in one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489204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139"/>
                </a:solidFill>
                <a:latin typeface="Aptos"/>
              </a:defRPr>
            </a:pPr>
            <a:r>
              <a:t>Irregular or missed pickups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89204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3139"/>
                </a:solidFill>
                <a:latin typeface="Aptos"/>
              </a:defRPr>
            </a:pPr>
            <a:r>
              <a:t>•  Irregular or missed pickups</a:t>
            </a:r>
          </a:p>
          <a:p>
            <a:pPr>
              <a:spcAft>
                <a:spcPts val="800"/>
              </a:spcAft>
              <a:defRPr sz="1500">
                <a:solidFill>
                  <a:srgbClr val="233139"/>
                </a:solidFill>
                <a:latin typeface="Aptos"/>
              </a:defRPr>
            </a:pPr>
            <a:r>
              <a:t>•  Wet and dry waste not consistently separated</a:t>
            </a:r>
          </a:p>
          <a:p>
            <a:pPr>
              <a:spcAft>
                <a:spcPts val="800"/>
              </a:spcAft>
              <a:defRPr sz="1500">
                <a:solidFill>
                  <a:srgbClr val="233139"/>
                </a:solidFill>
                <a:latin typeface="Aptos"/>
              </a:defRPr>
            </a:pPr>
            <a:r>
              <a:t>•  Limited visibility into collection progress</a:t>
            </a:r>
          </a:p>
          <a:p>
            <a:pPr>
              <a:spcAft>
                <a:spcPts val="800"/>
              </a:spcAft>
              <a:defRPr sz="1500">
                <a:solidFill>
                  <a:srgbClr val="233139"/>
                </a:solidFill>
                <a:latin typeface="Aptos"/>
              </a:defRPr>
            </a:pPr>
            <a:r>
              <a:t>•  Weak coordination between households, collectors and recyclers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2331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64008" cy="150876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Organize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13432"/>
            <a:ext cx="194767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Create structured pickup requests with category, quantity, address and preferred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69164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691640"/>
            <a:ext cx="64008" cy="1508760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8562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313432"/>
            <a:ext cx="217627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Show the collection journey from Pending to Completed.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520440"/>
            <a:ext cx="23317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520440"/>
            <a:ext cx="64008" cy="1508760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685032"/>
            <a:ext cx="19476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Recycle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142232"/>
            <a:ext cx="194767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Connect recyclable waste with suitable recyclers.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3520440"/>
            <a:ext cx="256032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32520" y="3520440"/>
            <a:ext cx="64008" cy="150876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3688" y="36850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4142232"/>
            <a:ext cx="2176272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Give administrators tools for users, complaints, rates and reports.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02  / 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Background &amp; related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9144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627178"/>
                </a:solidFill>
                <a:latin typeface="Aptos"/>
              </a:rPr>
              <a:t>The project is based on four practical themes in waste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5603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196596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737"/>
                </a:solidFill>
                <a:latin typeface="Aptos"/>
              </a:rPr>
              <a:t>01  Segregation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70632"/>
            <a:ext cx="217627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Plastic, paper, glass, metal, e-waste and organic waste require appropriate handling.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48840"/>
            <a:ext cx="25603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48840"/>
            <a:ext cx="64008" cy="1965960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3134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737"/>
                </a:solidFill>
                <a:latin typeface="Aptos"/>
              </a:rPr>
              <a:t>02 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70632"/>
            <a:ext cx="217627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A defined pickup queue and clear status updates help coordinate households and collectors.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25603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148840"/>
            <a:ext cx="64008" cy="196596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3134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737"/>
                </a:solidFill>
                <a:latin typeface="Aptos"/>
              </a:rPr>
              <a:t>03  Recycling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770632"/>
            <a:ext cx="217627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Recovered materials need a structured path from collection to recycler processing.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148840"/>
            <a:ext cx="256032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2148840"/>
            <a:ext cx="64008" cy="1965960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313432"/>
            <a:ext cx="217627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737"/>
                </a:solidFill>
                <a:latin typeface="Aptos"/>
              </a:rPr>
              <a:t>04  Digital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770632"/>
            <a:ext cx="2176272" cy="12161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A shared platform can maintain records and make each role’s responsibilities clearer.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09160"/>
            <a:ext cx="10698480" cy="868680"/>
          </a:xfrm>
          <a:prstGeom prst="roundRect">
            <a:avLst/>
          </a:prstGeom>
          <a:solidFill>
            <a:srgbClr val="DC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01184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PROJECT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828032"/>
            <a:ext cx="8595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Connect pickup requests, status tracking and recycling workflow in one role-based web platform.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03  /  FIELD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Research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874519"/>
            <a:ext cx="566928" cy="566928"/>
          </a:xfrm>
          <a:prstGeom prst="ellipse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55648" y="2157984"/>
            <a:ext cx="1216152" cy="0"/>
          </a:xfrm>
          <a:prstGeom prst="line">
            <a:avLst/>
          </a:prstGeom>
          <a:ln w="25400">
            <a:solidFill>
              <a:srgbClr val="BEC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6974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Survey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1874519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Google Form questionnaire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1874519"/>
            <a:ext cx="566928" cy="566928"/>
          </a:xfrm>
          <a:prstGeom prst="ellipse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29968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41648" y="2157984"/>
            <a:ext cx="1216152" cy="0"/>
          </a:xfrm>
          <a:prstGeom prst="line">
            <a:avLst/>
          </a:prstGeom>
          <a:ln w="25400">
            <a:solidFill>
              <a:srgbClr val="BEC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71800" y="26974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Observe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27248"/>
            <a:ext cx="1874519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Field visit and photographs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1874519"/>
            <a:ext cx="566928" cy="566928"/>
          </a:xfrm>
          <a:prstGeom prst="ellipse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029968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7648" y="2157984"/>
            <a:ext cx="1216152" cy="0"/>
          </a:xfrm>
          <a:prstGeom prst="line">
            <a:avLst/>
          </a:prstGeom>
          <a:ln w="25400">
            <a:solidFill>
              <a:srgbClr val="BEC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7800" y="26974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127248"/>
            <a:ext cx="1874519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Interaction with local scrap-shop staff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1874519"/>
            <a:ext cx="566928" cy="566928"/>
          </a:xfrm>
          <a:prstGeom prst="ellipse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029968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13648" y="2157984"/>
            <a:ext cx="1216152" cy="0"/>
          </a:xfrm>
          <a:prstGeom prst="line">
            <a:avLst/>
          </a:prstGeom>
          <a:ln w="25400">
            <a:solidFill>
              <a:srgbClr val="BEC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26974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127248"/>
            <a:ext cx="1874519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Review responses and identify needs</a:t>
            </a:r>
          </a:p>
        </p:txBody>
      </p:sp>
      <p:sp>
        <p:nvSpPr>
          <p:cNvPr id="26" name="Oval 25"/>
          <p:cNvSpPr/>
          <p:nvPr/>
        </p:nvSpPr>
        <p:spPr>
          <a:xfrm>
            <a:off x="10332720" y="1874519"/>
            <a:ext cx="566928" cy="566928"/>
          </a:xfrm>
          <a:prstGeom prst="ellipse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20" y="2029968"/>
            <a:ext cx="56692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9748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127248"/>
            <a:ext cx="1874519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Translate findings into Eco Collect workflows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709160"/>
            <a:ext cx="10561320" cy="822960"/>
          </a:xfrm>
          <a:prstGeom prst="roundRect">
            <a:avLst/>
          </a:prstGeom>
          <a:solidFill>
            <a:srgbClr val="EB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19472"/>
            <a:ext cx="1554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FIELD 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864608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737"/>
                </a:solidFill>
                <a:latin typeface="Aptos"/>
              </a:rPr>
              <a:t>Local scrap shop, 90 Feet Road area, Kandivali West, Mumbai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715000"/>
            <a:ext cx="9144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27178"/>
                </a:solidFill>
                <a:latin typeface="Aptos"/>
              </a:rPr>
              <a:t>Approach: descriptive study + system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04  / 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Survey findings: key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27178"/>
                </a:solidFill>
                <a:latin typeface="Aptos"/>
              </a:rPr>
              <a:t>The survey suggests that segregation is understood, but is not yet a consistent household habit.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057400"/>
          <a:ext cx="53035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2057400"/>
          <a:ext cx="51663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4068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178"/>
                </a:solidFill>
                <a:latin typeface="Aptos"/>
              </a:rPr>
              <a:t>113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440680"/>
            <a:ext cx="4297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7D60"/>
                </a:solidFill>
                <a:latin typeface="Aptos"/>
              </a:rPr>
              <a:t>38.9% use one dustbin; 38.9% use two.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8229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178"/>
                </a:solidFill>
                <a:latin typeface="Aptos"/>
              </a:rPr>
              <a:t>Note: response totals vary slightly across survey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04  / 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Collection habits &amp; field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74519"/>
          <a:ext cx="54864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178308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FIELD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48840"/>
            <a:ext cx="470916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F2737"/>
                </a:solidFill>
                <a:latin typeface="Aptos"/>
              </a:rPr>
              <a:t>At the local scrap shop, the study observed recyclable materials being handled, sorted and recovered.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429000"/>
            <a:ext cx="4709160" cy="1965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3139"/>
                </a:solidFill>
                <a:latin typeface="Aptos"/>
              </a:defRPr>
            </a:pPr>
            <a:r>
              <a:t>•  Scrap shops can act as local recovery points.</a:t>
            </a:r>
          </a:p>
          <a:p>
            <a:pPr>
              <a:spcAft>
                <a:spcPts val="900"/>
              </a:spcAft>
              <a:defRPr sz="1400">
                <a:solidFill>
                  <a:srgbClr val="233139"/>
                </a:solidFill>
                <a:latin typeface="Aptos"/>
              </a:defRPr>
            </a:pPr>
            <a:r>
              <a:t>•  Sorting makes recyclable materials easier to direct to suitable channels.</a:t>
            </a:r>
          </a:p>
          <a:p>
            <a:pPr>
              <a:spcAft>
                <a:spcPts val="900"/>
              </a:spcAft>
              <a:defRPr sz="1400">
                <a:solidFill>
                  <a:srgbClr val="233139"/>
                </a:solidFill>
                <a:latin typeface="Aptos"/>
              </a:defRPr>
            </a:pPr>
            <a:r>
              <a:t>•  The findings support category-based pickup requests and recycler coordination.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05  / 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Eco Collect: how the system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3657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FOUR ROLE-BASED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48716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64008" cy="114300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737"/>
                </a:solidFill>
                <a:latin typeface="Aptos"/>
              </a:rPr>
              <a:t>HOUSEHOLD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178"/>
                </a:solidFill>
                <a:latin typeface="Aptos"/>
              </a:rPr>
              <a:t>Create pickup request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91256" y="2542032"/>
            <a:ext cx="310896" cy="0"/>
          </a:xfrm>
          <a:prstGeom prst="line">
            <a:avLst/>
          </a:prstGeom>
          <a:ln w="25400">
            <a:solidFill>
              <a:srgbClr val="627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38728" y="1965960"/>
            <a:ext cx="248716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965960"/>
            <a:ext cx="64008" cy="1143000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737"/>
                </a:solidFill>
                <a:latin typeface="Aptos"/>
              </a:rPr>
              <a:t>COLLECTOR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587752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178"/>
                </a:solidFill>
                <a:latin typeface="Aptos"/>
              </a:rPr>
              <a:t>Accept and update status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44184" y="2542032"/>
            <a:ext cx="310896" cy="0"/>
          </a:xfrm>
          <a:prstGeom prst="line">
            <a:avLst/>
          </a:prstGeom>
          <a:ln w="25400">
            <a:solidFill>
              <a:srgbClr val="627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91656" y="1965960"/>
            <a:ext cx="248716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91656" y="1965960"/>
            <a:ext cx="64008" cy="1143000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737"/>
                </a:solidFill>
                <a:latin typeface="Aptos"/>
              </a:rPr>
              <a:t>RECYCLER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587752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178"/>
                </a:solidFill>
                <a:latin typeface="Aptos"/>
              </a:rPr>
              <a:t>Receive and process recyclables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97112" y="2542032"/>
            <a:ext cx="310896" cy="0"/>
          </a:xfrm>
          <a:prstGeom prst="line">
            <a:avLst/>
          </a:prstGeom>
          <a:ln w="25400">
            <a:solidFill>
              <a:srgbClr val="6271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44584" y="1965960"/>
            <a:ext cx="2487168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44584" y="1965960"/>
            <a:ext cx="64008" cy="1143000"/>
          </a:xfrm>
          <a:prstGeom prst="rect">
            <a:avLst/>
          </a:prstGeom>
          <a:solidFill>
            <a:srgbClr val="0F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2130552"/>
            <a:ext cx="2103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F2737"/>
                </a:solidFill>
                <a:latin typeface="Aptos"/>
              </a:rP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2587752"/>
            <a:ext cx="210312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178"/>
                </a:solidFill>
                <a:latin typeface="Aptos"/>
              </a:rPr>
              <a:t>Manage users, rates, complaints and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66160"/>
            <a:ext cx="2743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COLLECTION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77639"/>
            <a:ext cx="1828800" cy="640080"/>
          </a:xfrm>
          <a:prstGeom prst="roundRect">
            <a:avLst/>
          </a:prstGeom>
          <a:solidFill>
            <a:srgbClr val="0F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69663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Pending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578608" y="4297680"/>
            <a:ext cx="329183" cy="0"/>
          </a:xfrm>
          <a:prstGeom prst="line">
            <a:avLst/>
          </a:prstGeom>
          <a:ln w="25400">
            <a:solidFill>
              <a:srgbClr val="E59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971800" y="3977639"/>
            <a:ext cx="1828800" cy="640080"/>
          </a:xfrm>
          <a:prstGeom prst="roundRect">
            <a:avLst/>
          </a:prstGeom>
          <a:solidFill>
            <a:srgbClr val="DC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4169663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2737"/>
                </a:solidFill>
                <a:latin typeface="Aptos"/>
              </a:rPr>
              <a:t>Accepted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18888" y="4297680"/>
            <a:ext cx="329184" cy="0"/>
          </a:xfrm>
          <a:prstGeom prst="line">
            <a:avLst/>
          </a:prstGeom>
          <a:ln w="25400">
            <a:solidFill>
              <a:srgbClr val="E59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12080" y="3977639"/>
            <a:ext cx="1828800" cy="640080"/>
          </a:xfrm>
          <a:prstGeom prst="roundRect">
            <a:avLst/>
          </a:prstGeom>
          <a:solidFill>
            <a:srgbClr val="DC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4169663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2737"/>
                </a:solidFill>
                <a:latin typeface="Aptos"/>
              </a:rPr>
              <a:t>On the Way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59168" y="4297680"/>
            <a:ext cx="329184" cy="0"/>
          </a:xfrm>
          <a:prstGeom prst="line">
            <a:avLst/>
          </a:prstGeom>
          <a:ln w="25400">
            <a:solidFill>
              <a:srgbClr val="E59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452360" y="3977639"/>
            <a:ext cx="1828800" cy="640080"/>
          </a:xfrm>
          <a:prstGeom prst="roundRect">
            <a:avLst/>
          </a:prstGeom>
          <a:solidFill>
            <a:srgbClr val="DC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5512" y="4169663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F2737"/>
                </a:solidFill>
                <a:latin typeface="Aptos"/>
              </a:rPr>
              <a:t>Collected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99448" y="4297680"/>
            <a:ext cx="329184" cy="0"/>
          </a:xfrm>
          <a:prstGeom prst="line">
            <a:avLst/>
          </a:prstGeom>
          <a:ln w="25400">
            <a:solidFill>
              <a:srgbClr val="E591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692640" y="3977639"/>
            <a:ext cx="1828800" cy="640080"/>
          </a:xfrm>
          <a:prstGeom prst="roundRect">
            <a:avLst/>
          </a:prstGeom>
          <a:solidFill>
            <a:srgbClr val="0F2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65792" y="4169663"/>
            <a:ext cx="1682496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074920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7D60"/>
                </a:solidFill>
                <a:latin typeface="Aptos"/>
              </a:rPr>
              <a:t>Recycler status: Requested  →  Received  →  Processed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178"/>
                </a:solidFill>
                <a:latin typeface="Aptos"/>
              </a:rPr>
              <a:t>Built as a web prototype using React 19, TypeScript, Tailwind CSS and browser Local Storage.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572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F7D60"/>
                </a:solidFill>
                <a:latin typeface="Aptos"/>
              </a:rPr>
              <a:t>06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F2737"/>
                </a:solidFill>
                <a:latin typeface="Aptos"/>
              </a:rPr>
              <a:t>Outcome, 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658368" cy="54864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27178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1874519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What the prototype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304495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Role-based dashboards, pickup requests, collection status flow, recycler workflow and admin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1874519"/>
          </a:xfrm>
          <a:prstGeom prst="rect">
            <a:avLst/>
          </a:prstGeom>
          <a:solidFill>
            <a:srgbClr val="E591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13432"/>
            <a:ext cx="304495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Browser Local Storage; no production backend, GPS tracking, online payments or automated SMS/email.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4290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91640"/>
            <a:ext cx="64008" cy="1874519"/>
          </a:xfrm>
          <a:prstGeom prst="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856232"/>
            <a:ext cx="304495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Recommended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13432"/>
            <a:ext cx="3044952" cy="1124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178"/>
                </a:solidFill>
                <a:latin typeface="Aptos"/>
              </a:rPr>
              <a:t>Add a secure backend and database, authentication, live tracking, notifications and stronger analytics.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10561320" cy="1051560"/>
          </a:xfrm>
          <a:prstGeom prst="roundRect">
            <a:avLst/>
          </a:prstGeom>
          <a:solidFill>
            <a:srgbClr val="DC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07408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D60"/>
                </a:solidFill>
                <a:latin typeface="Aptos"/>
              </a:rPr>
              <a:t>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15968"/>
            <a:ext cx="8321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F2737"/>
                </a:solidFill>
                <a:latin typeface="Aptos"/>
              </a:rPr>
              <a:t>Eco Collect turns field-study observations into a clearer digital process for collection, tracking and recycling.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27178"/>
                </a:solidFill>
                <a:latin typeface="Aptos"/>
              </a:rPr>
              <a:t>The project provides a foundation for a more organized and recycling-oriented workflow; real-world impact would need further testing.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178"/>
                </a:solidFill>
                <a:latin typeface="Aptos"/>
              </a:rPr>
              <a:t>ECO COLLECT  •  FIELD PROJECT VIVA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271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7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8FDABA"/>
                </a:solidFill>
                <a:latin typeface="Aptos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6400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Project report &amp; field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7772400" cy="2057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DCE8E9"/>
                </a:solidFill>
                <a:latin typeface="Aptos"/>
              </a:defRPr>
            </a:pPr>
            <a:r>
              <a:t>•  Field Project Report: “Waste Collection Process Study &amp; App Design” (2026–27).</a:t>
            </a:r>
          </a:p>
          <a:p>
            <a:pPr>
              <a:spcAft>
                <a:spcPts val="1200"/>
              </a:spcAft>
              <a:defRPr sz="1600">
                <a:solidFill>
                  <a:srgbClr val="DCE8E9"/>
                </a:solidFill>
                <a:latin typeface="Aptos"/>
              </a:defRPr>
            </a:pPr>
            <a:r>
              <a:t>•  Primary data: Google Form survey responses, field observations, photographs and scrap-shop interaction.</a:t>
            </a:r>
          </a:p>
          <a:p>
            <a:pPr>
              <a:spcAft>
                <a:spcPts val="1200"/>
              </a:spcAft>
              <a:defRPr sz="1600">
                <a:solidFill>
                  <a:srgbClr val="DCE8E9"/>
                </a:solidFill>
                <a:latin typeface="Aptos"/>
              </a:defRPr>
            </a:pPr>
            <a:r>
              <a:t>•  Presentation structure based on the supplied “Presentation for Viva” guide.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1234440"/>
            <a:ext cx="2377440" cy="2926080"/>
          </a:xfrm>
          <a:prstGeom prst="roundRect">
            <a:avLst/>
          </a:prstGeom>
          <a:solidFill>
            <a:srgbClr val="1F7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79408" y="2057400"/>
            <a:ext cx="19659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THANK
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9408" y="3337560"/>
            <a:ext cx="1965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DCF2E8"/>
                </a:solidFill>
                <a:latin typeface="Aptos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6400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DABA"/>
                </a:solidFill>
                <a:latin typeface="Aptos"/>
              </a:rPr>
              <a:t>Eco Collect  •  Balaji Easwara 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